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CONFIDENTIAL DISCUSSION DECK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Demo: https://quarry.12brain.org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7F4EF"/>
                </a:solidFill>
                <a:latin typeface="Aptos Display"/>
              </a:rPr>
              <a:t>QUARRY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9572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A8B0BA"/>
                </a:solidFill>
                <a:latin typeface="Inter"/>
              </a:rPr>
              <a:t>Autonomous Threat Hunting for the Post-Mythos 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7F4EF"/>
                </a:solidFill>
                <a:latin typeface="Inter"/>
              </a:rPr>
              <a:t>A governed agentic investigation platform for financial-sector cyber defense.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376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A441"/>
                </a:solidFill>
                <a:latin typeface="Inter"/>
              </a:rP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56967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0BA"/>
                </a:solidFill>
                <a:latin typeface="Inter"/>
              </a:rPr>
              <a:t>Prepared for strategic partner discussion</a:t>
            </a:r>
          </a:p>
        </p:txBody>
      </p:sp>
      <p:sp>
        <p:nvSpPr>
          <p:cNvPr id="12" name="Hexagon 11"/>
          <p:cNvSpPr/>
          <p:nvPr/>
        </p:nvSpPr>
        <p:spPr>
          <a:xfrm>
            <a:off x="7452360" y="1325880"/>
            <a:ext cx="3657600" cy="3657600"/>
          </a:xfrm>
          <a:prstGeom prst="hexagon">
            <a:avLst/>
          </a:prstGeom>
          <a:solidFill>
            <a:srgbClr val="8B0000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7836408" y="1508760"/>
            <a:ext cx="2743200" cy="2743200"/>
          </a:xfrm>
          <a:prstGeom prst="hexagon">
            <a:avLst/>
          </a:prstGeom>
          <a:solidFill>
            <a:srgbClr val="1E252E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8220456" y="1691640"/>
            <a:ext cx="1828800" cy="1828800"/>
          </a:xfrm>
          <a:prstGeom prst="hexagon">
            <a:avLst/>
          </a:prstGeom>
          <a:solidFill>
            <a:srgbClr val="8B0000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359152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THE MYTHOS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Sources: Anthropic Red Team, Apr 7 2026; Federal Reserve Bowman speech, May 1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97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9A441"/>
                </a:solidFill>
                <a:latin typeface="Inter"/>
              </a:rPr>
              <a:t>APR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>
                <a:solidFill>
                  <a:srgbClr val="B32635"/>
                </a:solidFill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A8B0BA"/>
                </a:solidFill>
                <a:latin typeface="Inter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097280"/>
            <a:ext cx="8046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F7F4EF"/>
                </a:solidFill>
                <a:latin typeface="Inter"/>
              </a:rPr>
              <a:t>April 7, 2026 changed the threat-hunting clock.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48256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8B0BA"/>
                </a:solidFill>
                <a:latin typeface="Inter"/>
              </a:rPr>
              <a:t>Frontier agents are now credible enough to compress vulnerability discovery, exploitation, and defensive response cycles.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26080"/>
            <a:ext cx="7955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7F4EF"/>
                </a:solidFill>
                <a:latin typeface="Inter"/>
              </a:rPr>
              <a:t>• Anthropic disclosed Claude Mythos Preview and Project Glasswing, explicitly framing the launch as a security watershed.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7F4EF"/>
                </a:solidFill>
                <a:latin typeface="Inter"/>
              </a:rPr>
              <a:t>• The Federal Reserve later cited Mythos at an FSOC AI / cybersecurity roundtable as evidence of rapidly evolving capability.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7F4EF"/>
                </a:solidFill>
                <a:latin typeface="Inter"/>
              </a:rPr>
              <a:t>• The implication for financial institutions is operational: investigation workflows must move from analyst-hours to machine-minutes while remaining auditable.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THE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Sources: U.S. Treasury AI cybersecurity initiative, Feb 18 2026; Treasury AI cybersecurity report, Mar 27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EF"/>
                </a:solidFill>
                <a:latin typeface="Inter"/>
              </a:rPr>
              <a:t>The next 6-12 months are the adoption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B32635"/>
                </a:solidFill>
                <a:latin typeface="Inter"/>
              </a:rPr>
              <a:t>6-12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396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8B0BA"/>
                </a:solidFill>
                <a:latin typeface="Inter"/>
              </a:rPr>
              <a:t>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4EF"/>
                </a:solidFill>
                <a:latin typeface="Inter"/>
              </a:rPr>
              <a:t>Regulators are turning AI-cyber guidance into operating expectations while attackers gain agentic leverage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F7F4EF"/>
                </a:solidFill>
                <a:latin typeface="Inter"/>
              </a:rPr>
              <a:t>• Treasury launched public-private AI cybersecurity resources for financial services in 2026.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F7F4EF"/>
                </a:solidFill>
                <a:latin typeface="Inter"/>
              </a:rPr>
              <a:t>• Treasury's earlier AI cybersecurity report identified immediate operational risk, cybersecurity, and fraud challenges.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F7F4EF"/>
                </a:solidFill>
                <a:latin typeface="Inter"/>
              </a:rPr>
              <a:t>• The buyer will not want a chatbot. The buyer will want governed autonomy: provenance, cost control, reproducibility, and policy guardrails.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A441"/>
                </a:solidFill>
                <a:latin typeface="Inter"/>
              </a:rPr>
              <a:t>Positioning rule: auditable autonomy beats unsupervised autonomy.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Sources: Microsoft SecRL benchmark framing; Quarry architecture docs.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EF"/>
                </a:solidFill>
                <a:latin typeface="Inter"/>
              </a:rPr>
              <a:t>Hunters cannot scale linearly with telemetry.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69164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BA"/>
                </a:solidFill>
                <a:latin typeface="Inter"/>
              </a:rPr>
              <a:t>The industry has more alerts, more tools, more data, and fewer people who can connect it all under time pressure.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233172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679192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27832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MORE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38728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current SOC reality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514600"/>
            <a:ext cx="233172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679192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27832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MORE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538728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current SOC reality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2514600"/>
            <a:ext cx="233172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1" y="2679192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Hunters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227832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SAME BOTTLENECK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538728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current SOC reality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2514600"/>
            <a:ext cx="233172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1" y="2679192"/>
            <a:ext cx="2002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79" y="3227832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LATE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79" y="3538728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current SOC reality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9966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F7F4EF"/>
                </a:solidFill>
                <a:latin typeface="Inter"/>
              </a:rPr>
              <a:t>• SIEM / EDR / cloud logs are searchable, but the investigation work is still mostly human orchestration.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F7F4EF"/>
                </a:solidFill>
                <a:latin typeface="Inter"/>
              </a:rPr>
              <a:t>• Senior hunters are the bottleneck: hypothesis generation, query selection, evidence correlation, and report writing.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F7F4EF"/>
                </a:solidFill>
                <a:latin typeface="Inter"/>
              </a:rPr>
              <a:t>• Static detections miss the operating need: turning a vague brief into a defensible investigation trail.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Source: Quarry product architecture and demo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7F4EF"/>
                </a:solidFill>
                <a:latin typeface="Inter"/>
              </a:rPr>
              <a:t>Quarry turns a brief into governed investigation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82496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8B0BA"/>
                </a:solidFill>
                <a:latin typeface="Inter"/>
              </a:rPr>
              <a:t>An agentic hunting platform that decomposes the brief, queries telemetry, correlates evidence, and writes the report with a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788920"/>
            <a:ext cx="1554480" cy="749808"/>
          </a:xfrm>
          <a:prstGeom prst="roundRect">
            <a:avLst/>
          </a:prstGeom>
          <a:solidFill>
            <a:srgbClr val="1E252E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9352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4EF"/>
                </a:solidFill>
                <a:latin typeface="Inter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30175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B0BA"/>
                </a:solidFill>
                <a:latin typeface="Inter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8" y="2788920"/>
            <a:ext cx="1554480" cy="749808"/>
          </a:xfrm>
          <a:prstGeom prst="roundRect">
            <a:avLst/>
          </a:prstGeom>
          <a:solidFill>
            <a:srgbClr val="1E252E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6" y="29352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4EF"/>
                </a:solidFill>
                <a:latin typeface="Inter"/>
              </a:rPr>
              <a:t>Hypotheses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0175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B0BA"/>
                </a:solidFill>
                <a:latin typeface="Inter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2788920"/>
            <a:ext cx="1554480" cy="749808"/>
          </a:xfrm>
          <a:prstGeom prst="roundRect">
            <a:avLst/>
          </a:prstGeom>
          <a:solidFill>
            <a:srgbClr val="1E252E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29352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4EF"/>
                </a:solidFill>
                <a:latin typeface="Inter"/>
              </a:rPr>
              <a:t>Federated
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30175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B0BA"/>
                </a:solidFill>
                <a:latin typeface="Inter"/>
              </a:rP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2788920"/>
            <a:ext cx="1554480" cy="749808"/>
          </a:xfrm>
          <a:prstGeom prst="roundRect">
            <a:avLst/>
          </a:prstGeom>
          <a:solidFill>
            <a:srgbClr val="8B0000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97496" y="29352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4EF"/>
                </a:solidFill>
                <a:latin typeface="Inter"/>
              </a:rPr>
              <a:t>Evidence
Ledger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30175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B0BA"/>
                </a:solidFill>
                <a:latin typeface="Inter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2788920"/>
            <a:ext cx="1554480" cy="749808"/>
          </a:xfrm>
          <a:prstGeom prst="roundRect">
            <a:avLst/>
          </a:prstGeom>
          <a:solidFill>
            <a:srgbClr val="1E252E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336" y="29352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4EF"/>
                </a:solidFill>
                <a:latin typeface="Inter"/>
              </a:rPr>
              <a:t>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434840"/>
            <a:ext cx="3154680" cy="123444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4599431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Governed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14807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POLICY GUARDRAILS AND READ-ONLY EVALUATION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45896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design principle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4434840"/>
            <a:ext cx="3154680" cy="123444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4599431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Traceable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14807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EVERY QUERY AND CONCLUSION IS WRITTEN TO THE INVESTIGATION LEDGER.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45896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design principle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4434840"/>
            <a:ext cx="3154680" cy="123444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4599431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Measurable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514807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TIME, TOKENS, COST, AND ACCURACY BECOME PRODUCT METRICS.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45896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design principle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Source: Quarry public demo screenshot captured May 16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4EF"/>
                </a:solidFill>
                <a:latin typeface="Inter"/>
              </a:rPr>
              <a:t>The analyst sees a live investigation, not a black box.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BA"/>
                </a:solidFill>
                <a:latin typeface="Inter"/>
              </a:rPr>
              <a:t>Brief, hypotheses, data queries, findings, graph, MITRE coverage, cost, and report generation are visible in one flow.</a:t>
            </a:r>
          </a:p>
        </p:txBody>
      </p:sp>
      <p:pic>
        <p:nvPicPr>
          <p:cNvPr id="9" name="Picture 8" descr="quarry-public-demo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65960"/>
            <a:ext cx="7178040" cy="4984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75320" y="192024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F7F4EF"/>
                </a:solidFill>
                <a:latin typeface="Inter"/>
              </a:rPr>
              <a:t>• Input: natural-language investigation brief.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F7F4EF"/>
                </a:solidFill>
                <a:latin typeface="Inter"/>
              </a:rPr>
              <a:t>• Process: hypotheses -&gt; connector queries -&gt; evidence ledger -&gt; report.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F7F4EF"/>
                </a:solidFill>
                <a:latin typeface="Inter"/>
              </a:rPr>
              <a:t>• Output: analyst-ready narrative with supporting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577840"/>
            <a:ext cx="1554480" cy="749808"/>
          </a:xfrm>
          <a:prstGeom prst="roundRect">
            <a:avLst/>
          </a:prstGeom>
          <a:solidFill>
            <a:srgbClr val="1E252E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572414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4EF"/>
                </a:solidFill>
                <a:latin typeface="Inter"/>
              </a:rP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5806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B0BA"/>
                </a:solidFill>
                <a:latin typeface="Inter"/>
              </a:rP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5577840"/>
            <a:ext cx="1554480" cy="749808"/>
          </a:xfrm>
          <a:prstGeom prst="roundRect">
            <a:avLst/>
          </a:prstGeom>
          <a:solidFill>
            <a:srgbClr val="1E252E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2968" y="572414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4EF"/>
                </a:solidFill>
                <a:latin typeface="Inter"/>
              </a:rPr>
              <a:t>Hypotheses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5806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B0BA"/>
                </a:solidFill>
                <a:latin typeface="Inter"/>
              </a:rP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5577840"/>
            <a:ext cx="1554480" cy="749808"/>
          </a:xfrm>
          <a:prstGeom prst="roundRect">
            <a:avLst/>
          </a:prstGeom>
          <a:solidFill>
            <a:srgbClr val="1E252E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572414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4EF"/>
                </a:solidFill>
                <a:latin typeface="Inter"/>
              </a:rPr>
              <a:t>Federated
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5806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B0BA"/>
                </a:solidFill>
                <a:latin typeface="Inter"/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5577840"/>
            <a:ext cx="1554480" cy="749808"/>
          </a:xfrm>
          <a:prstGeom prst="roundRect">
            <a:avLst/>
          </a:prstGeom>
          <a:solidFill>
            <a:srgbClr val="8B0000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572414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4EF"/>
                </a:solidFill>
                <a:latin typeface="Inter"/>
              </a:rPr>
              <a:t>Evidence
Ledger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5806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B0BA"/>
                </a:solidFill>
                <a:latin typeface="Inter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5577840"/>
            <a:ext cx="1554480" cy="749808"/>
          </a:xfrm>
          <a:prstGeom prst="roundRect">
            <a:avLst/>
          </a:prstGeom>
          <a:solidFill>
            <a:srgbClr val="1E252E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9488" y="572414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4EF"/>
                </a:solidFill>
                <a:latin typeface="Inter"/>
              </a:rP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Sources: docs/benchmarks/microsoft-secrl-results.md; microsoft/SecRL GitHub.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EF"/>
                </a:solidFill>
                <a:latin typeface="Inter"/>
              </a:rPr>
              <a:t>SecRL smoke run: 8/8 scenarios 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09344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BA"/>
                </a:solidFill>
                <a:latin typeface="Inter"/>
              </a:rPr>
              <a:t>A pitch-grade regression run against Microsoft's cyber threat investigation benchmark, using the Quarry SQL investigation adapter.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14600"/>
            <a:ext cx="242316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2093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8/8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27832"/>
            <a:ext cx="2057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CORRECT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3872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one question per incident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2514600"/>
            <a:ext cx="242316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679192"/>
            <a:ext cx="2093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8.54s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227832"/>
            <a:ext cx="2057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AVG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53872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brief to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2514600"/>
            <a:ext cx="242316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679192"/>
            <a:ext cx="2093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95,460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227832"/>
            <a:ext cx="2057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53872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total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53728" y="2514600"/>
            <a:ext cx="242316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679192"/>
            <a:ext cx="2093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$0.243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3227832"/>
            <a:ext cx="2057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353872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estimated 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348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F7F4EF"/>
                </a:solidFill>
                <a:latin typeface="Inter"/>
              </a:rPr>
              <a:t>• Model: gpt-4o; evaluator: gpt-4o; temperature: 0; max steps: 25.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F7F4EF"/>
                </a:solidFill>
                <a:latin typeface="Inter"/>
              </a:rPr>
              <a:t>• Scope note: this is an 8-scenario pitch smoke run, not the full official question-set claim.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32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A441"/>
                </a:solidFill>
                <a:latin typeface="Inter"/>
              </a:rPr>
              <a:t>Conservative claim: early evidence of fit, not a completed official benchmark certification.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THE BEACHHEAD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Sources: Banco Central do Brasil Pix statistics; CARD-009 synthetic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7F4EF"/>
                </a:solidFill>
                <a:latin typeface="Inter"/>
              </a:rPr>
              <a:t>Brazilian fintechs are the first wedge.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BA"/>
                </a:solidFill>
                <a:latin typeface="Inter"/>
              </a:rPr>
              <a:t>Pix created a national-scale real-time payment environment where fraud, identity, mobile, and infrastructure signals converge.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31720"/>
            <a:ext cx="315468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+170M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4495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INDIVIDUAL PIX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35584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BCB public stats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331720"/>
            <a:ext cx="315468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496312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+7B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4495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PIX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5584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January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2331720"/>
            <a:ext cx="3154680" cy="141732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496312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+R$3T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04495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MONTHLY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35584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October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60520"/>
            <a:ext cx="9966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F7F4EF"/>
                </a:solidFill>
                <a:latin typeface="Inter"/>
              </a:rPr>
              <a:t>• Demo persona: FinPlay Pagamentos, a fictitious Sao Paulo fintech with 50,000 active customers.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F7F4EF"/>
                </a:solidFill>
                <a:latin typeface="Inter"/>
              </a:rPr>
              <a:t>• Synthetic 30-day dataset covers Pix, mobile banking auth, Open Finance, boleto creation, and injected fraud campaigns.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F7F4EF"/>
                </a:solidFill>
                <a:latin typeface="Inter"/>
              </a:rPr>
              <a:t>• Initial use case: Pix fraud and account-takeover investigations that require fast correlation and an auditable report.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Source: founder / partner operating 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7F4EF"/>
                </a:solidFill>
                <a:latin typeface="Inter"/>
              </a:rPr>
              <a:t>Founder-led product, partner-scaled distribution.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BA"/>
                </a:solidFill>
                <a:latin typeface="Inter"/>
              </a:rPr>
              <a:t>The right early team pairs Brazilian market access with global enterprise-security credibility.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3154680" cy="201168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33472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Jose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8211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PRODUCT VISION | BRAZILIAN MARKET ACCESS | OPERATOR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9300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468880"/>
            <a:ext cx="3154680" cy="201168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633472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Meta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18211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ENTERPRISE CREDIBILITY | SECURITY NETWORK LEVERAGE | STRATEGIC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49300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role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468880"/>
            <a:ext cx="3154680" cy="201168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633472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Operating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8211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DEMO FIRST | BENCHMARK VISIBLE | PILOT DISCIPLINED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9300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F7F4EF"/>
                </a:solidFill>
                <a:latin typeface="Inter"/>
              </a:rPr>
              <a:t>• Jose / Increase Trainer: product vision, Brazilian market access, and hands-on operator discovery.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F7F4EF"/>
                </a:solidFill>
                <a:latin typeface="Inter"/>
              </a:rPr>
              <a:t>• Meta co-founder partner: enterprise credibility, security-network leverage, and strategic distribution.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F7F4EF"/>
                </a:solidFill>
                <a:latin typeface="Inter"/>
              </a:rPr>
              <a:t>• Operating model: narrow wedge, visible demo, measurable benchmark, then regulated pilot.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THE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Source: Quarry product roadmap, May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7F4EF"/>
                </a:solidFill>
                <a:latin typeface="Inter"/>
              </a:rPr>
              <a:t>BR -&gt; US -&gt; Global, with evidence gates at each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BA"/>
                </a:solidFill>
                <a:latin typeface="Inter"/>
              </a:rPr>
              <a:t>The roadmap protects credibility by pairing expansion with benchmark, security, and deployment milestones.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2423160" cy="196596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907792"/>
            <a:ext cx="2093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56432"/>
            <a:ext cx="2057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PUBLIC DEMO | BR SYNTHETIC FINTECH | SECRL SMOKE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6732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milestone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743200"/>
            <a:ext cx="2423160" cy="196596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907792"/>
            <a:ext cx="2093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Q3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56432"/>
            <a:ext cx="2057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FULL SECRL RUN | SOC CONNECTORS | FIRST BR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76732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milestone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743200"/>
            <a:ext cx="2423160" cy="196596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2907792"/>
            <a:ext cx="2093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56432"/>
            <a:ext cx="2057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COMPLIANCE HARDENING | US FINANCE BEACHHEAD | PARTNER PACKAGING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76732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milestone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39" y="2743200"/>
            <a:ext cx="2423160" cy="196596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1" y="2907792"/>
            <a:ext cx="2093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H1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456432"/>
            <a:ext cx="2057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GLOBAL PILOTS | CHANNEL MOTION | ENTERPRISE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76732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milestone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A441"/>
                </a:solidFill>
                <a:latin typeface="Inter"/>
              </a:rPr>
              <a:t>Rule: every expansion step ships with a repeatable demo, benchmark evidence, and operational runbook.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Source: proposed partnership timeline.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4EF"/>
                </a:solidFill>
                <a:latin typeface="Inter"/>
              </a:rPr>
              <a:t>Structure the partnership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BA"/>
                </a:solidFill>
                <a:latin typeface="Inter"/>
              </a:rPr>
              <a:t>The near-term ask is not broad fundraising. It is a focused partnership discussion tied to diligence and pilot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9875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F7F4EF"/>
                </a:solidFill>
                <a:latin typeface="Inter"/>
              </a:rPr>
              <a:t>• Align on co-founder / advisor / equity structure and operating responsibilities.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F7F4EF"/>
                </a:solidFill>
                <a:latin typeface="Inter"/>
              </a:rPr>
              <a:t>• Run 30-day technical diligence: public demo, architecture, SecRL harness, and synthetic fintech dataset.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F7F4EF"/>
                </a:solidFill>
                <a:latin typeface="Inter"/>
              </a:rPr>
              <a:t>• Define 60-day pilot path with one Brazilian fintech or MSSP and one enterprise-security design partner.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F7F4EF"/>
                </a:solidFill>
                <a:latin typeface="Inter"/>
              </a:rPr>
              <a:t>• Decision point: strategic partnership, seed vehicle, or customer-led buildout.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92040"/>
            <a:ext cx="2971800" cy="114300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056631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0527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1616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partnership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4892040"/>
            <a:ext cx="2971800" cy="114300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5056631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Day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560527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DILIGENCE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91616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technical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892040"/>
            <a:ext cx="2971800" cy="1143000"/>
          </a:xfrm>
          <a:prstGeom prst="roundRect">
            <a:avLst/>
          </a:prstGeom>
          <a:solidFill>
            <a:srgbClr val="151A21"/>
          </a:solidFill>
          <a:ln>
            <a:solidFill>
              <a:srgbClr val="343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5056631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7F4EF"/>
                </a:solidFill>
                <a:latin typeface="Inter"/>
              </a:rPr>
              <a:t>Day 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560527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A441"/>
                </a:solidFill>
                <a:latin typeface="Inter"/>
              </a:rPr>
              <a:t>PILOT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591616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8B0BA"/>
                </a:solidFill>
                <a:latin typeface="Inter"/>
              </a:rPr>
              <a:t>customer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02920" y="310896"/>
            <a:ext cx="347472" cy="347472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04" y="326532"/>
            <a:ext cx="277977" cy="277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B0BA"/>
                </a:solidFill>
                <a:latin typeface="Inter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8B0BA"/>
                </a:solidFill>
                <a:latin typeface="Inter"/>
              </a:rPr>
              <a:t>Sources: Quarry demo and source notes in docs/pitch/quarry-v1-sources.md.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5156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4EF"/>
                </a:solidFill>
                <a:latin typeface="Inter"/>
              </a:rPr>
              <a:t>Human-speed teams are entering machine-speed investigations.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84831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A8B0BA"/>
                </a:solidFill>
                <a:latin typeface="Inter"/>
              </a:rPr>
              <a:t>Quarry is the control plane that keeps autonomous hunting useful, governed, and defensible.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8961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F7F4EF"/>
                </a:solidFill>
                <a:latin typeface="Inter"/>
              </a:rPr>
              <a:t>• Live demo: https://quarry.12brain.org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F7F4EF"/>
                </a:solidFill>
                <a:latin typeface="Inter"/>
              </a:rPr>
              <a:t>• Backup artifacts: docs/pitch/quarry-v1.pdf and docs/pitch/quarry-v1.pptx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F7F4EF"/>
                </a:solidFill>
                <a:latin typeface="Inter"/>
              </a:rPr>
              <a:t>• Next steps: partner diligence, full SecRL question-set run, first regulated 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303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B32635"/>
                </a:solidFill>
                <a:latin typeface="Inter"/>
              </a:rPr>
              <a:t>quarry.12brain.org</a:t>
            </a:r>
          </a:p>
        </p:txBody>
      </p:sp>
      <p:sp>
        <p:nvSpPr>
          <p:cNvPr id="11" name="Hexagon 10"/>
          <p:cNvSpPr/>
          <p:nvPr/>
        </p:nvSpPr>
        <p:spPr>
          <a:xfrm>
            <a:off x="9326880" y="4160520"/>
            <a:ext cx="1143000" cy="1143000"/>
          </a:xfrm>
          <a:prstGeom prst="hexagon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46894" y="4211955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4EF"/>
                </a:solidFill>
                <a:latin typeface="Inter"/>
              </a:rP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556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A8B0BA"/>
                </a:solidFill>
                <a:latin typeface="Inter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